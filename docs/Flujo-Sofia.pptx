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Mensaje central: Sofía atiende sola, registra todo en Bitrix24 y entrega el caso a un asesor cuando corresponde. Los dos programas del piloto son el Diplomado en Intervención Terapéutica Familiar y el Diplomado en Inteligencia Artificial.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Recorrido: el interesado escribe (WhatsApp, Web Chat, Instagram o Messenger) y Sofía responde al instante, a cualquier hora, con información del catálogo oficial. Va guardando nombre, correo y teléfono en Bitrix24 y asigna un asesor por turno (alterna Norte y Sur, con una tarea en Bitrix24).
En paralelo puntúa la conversación de 0 a 100: entre 40 y 69 el negocio pasa a Interesado; con 70 o más pasa a Postulante si ya tiene nombre, correo y teléfono, y si no, se queda en Interesado.
Después el caso llega al asesor por uno de cuatro caminos: (1) pide un asesor o el puntaje llega a 80; (2) dice que quiere matricularse y Sofía pide profesión, dirección y foto de la cédula; (3) con datos completos acepta que Sofía lo llame; (4) deja de responder: a las 3 h recibe un recordatorio, a las 4 h se avisa al asesor sin silenciar a Sofía, y a las 10 h se envía un último recordatorio con otro tono, que cierra dejando la puerta abierta. Los recordatorios solo salen entre 9 y 21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puntos para dejar claros: el horario en que Sofía escribe por iniciativa propia, cómo se reparten los casos entre asesores y cómo se mide el resultado del piloto en el panel de Bitrix24.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 BLANCA · POSTGRADOS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atiende Sofía a un interesado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simplificado del asistente de IA en los dos programas piloto: Diplomado en Intervención Terapéutica Familiar y Diplomado en Inteligencia Artificial.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Chile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38260" y="960120"/>
            <a:ext cx="1143000" cy="114300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5C7BB5"/>
            </a:solidFill>
            <a:prstDash val="solid"/>
          </a:ln>
        </p:spPr>
      </p:sp>
      <p:pic>
        <p:nvPicPr>
          <p:cNvPr id="7" name="Image 0" descr="El interesado escri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2573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0" y="2176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interesado escribe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509760" y="2514600"/>
            <a:ext cx="0" cy="274320"/>
          </a:xfrm>
          <a:prstGeom prst="line">
            <a:avLst/>
          </a:prstGeom>
          <a:noFill/>
          <a:ln w="19050">
            <a:solidFill>
              <a:srgbClr val="5C7BB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938260" y="2834640"/>
            <a:ext cx="1143000" cy="1143000"/>
          </a:xfrm>
          <a:prstGeom prst="ellipse">
            <a:avLst/>
          </a:prstGeom>
          <a:solidFill>
            <a:srgbClr val="2458C7"/>
          </a:solidFill>
          <a:ln w="19050">
            <a:solidFill>
              <a:srgbClr val="2458C7"/>
            </a:solidFill>
            <a:prstDash val="solid"/>
          </a:ln>
        </p:spPr>
      </p:sp>
      <p:pic>
        <p:nvPicPr>
          <p:cNvPr id="11" name="Image 1" descr="Sofía (IA) atiende y regist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31318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0" y="4050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(IA) atiende y registra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509760" y="4389120"/>
            <a:ext cx="0" cy="274320"/>
          </a:xfrm>
          <a:prstGeom prst="line">
            <a:avLst/>
          </a:prstGeom>
          <a:noFill/>
          <a:ln w="19050">
            <a:solidFill>
              <a:srgbClr val="5C7B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938260" y="4709160"/>
            <a:ext cx="1143000" cy="1143000"/>
          </a:xfrm>
          <a:prstGeom prst="ellipse">
            <a:avLst/>
          </a:prstGeom>
          <a:solidFill>
            <a:srgbClr val="A84A0A"/>
          </a:solidFill>
          <a:ln w="19050">
            <a:solidFill>
              <a:srgbClr val="A84A0A"/>
            </a:solidFill>
            <a:prstDash val="solid"/>
          </a:ln>
        </p:spPr>
      </p:sp>
      <p:pic>
        <p:nvPicPr>
          <p:cNvPr id="15" name="Image 2" descr="Un asesor continúa el proces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50063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0" y="5925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asesor continúa el proceso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Sofía atiende sola; el asesor entra cuando hace falta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9264"/>
            <a:ext cx="292608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32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Sofía (IA)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969264"/>
            <a:ext cx="292608" cy="164592"/>
          </a:xfrm>
          <a:prstGeom prst="rect">
            <a:avLst/>
          </a:prstGeom>
          <a:solidFill>
            <a:srgbClr val="A84A0A"/>
          </a:solidFill>
          <a:ln w="12700">
            <a:solidFill>
              <a:srgbClr val="A84A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932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un asesor humano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969264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6510">
            <a:solidFill>
              <a:srgbClr val="5B68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9326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que activa el camino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98448"/>
            <a:ext cx="2532888" cy="130759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ENTRADA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interesado escribe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WhatsApp, Web Chat, Instagram o Messenger.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1298448"/>
            <a:ext cx="2532888" cy="130759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ATENCIÓN 24/7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(IA) responde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Programas, valores y requisitos, con datos del catálogo oficial.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298448"/>
            <a:ext cx="2532888" cy="130759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REGISTRO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y asigna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correo y teléfono van a Bitrix24 y se asigna un asesor por turno.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07424" y="1298448"/>
            <a:ext cx="2532888" cy="130759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dash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IA de 0 a 100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40–69 → etapa Interesado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con datos → Postulante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sin datos → Interesado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952244"/>
            <a:ext cx="265176" cy="0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61888" y="1952244"/>
            <a:ext cx="265176" cy="0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14816" y="1952244"/>
            <a:ext cx="265176" cy="0"/>
          </a:xfrm>
          <a:prstGeom prst="line">
            <a:avLst/>
          </a:prstGeom>
          <a:noFill/>
          <a:ln w="19050">
            <a:solidFill>
              <a:srgbClr val="5B6879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20940" y="2606040"/>
            <a:ext cx="0" cy="576072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5084" y="2926080"/>
            <a:ext cx="8558784" cy="0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5084" y="2926080"/>
            <a:ext cx="0" cy="256032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8012" y="2926080"/>
            <a:ext cx="0" cy="256032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73868" y="2926080"/>
            <a:ext cx="0" cy="256032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52244" y="26517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ahí, según cómo avance la conversación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182112"/>
            <a:ext cx="2532888" cy="502920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6510">
            <a:solidFill>
              <a:srgbClr val="5B6879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 asesor, o el puntaje llega a 80 o más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01568" y="3182112"/>
            <a:ext cx="2532888" cy="502920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6510">
            <a:solidFill>
              <a:srgbClr val="5B6879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que quiere matricularse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182112"/>
            <a:ext cx="2532888" cy="502920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6510">
            <a:solidFill>
              <a:srgbClr val="5B6879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completos, acepta que lo llamen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07424" y="3182112"/>
            <a:ext cx="2532888" cy="502920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6510">
            <a:solidFill>
              <a:srgbClr val="5B6879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de responder (en WhatsApp)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15084" y="3685032"/>
            <a:ext cx="0" cy="155448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8012" y="3685032"/>
            <a:ext cx="0" cy="155448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20940" y="3685032"/>
            <a:ext cx="0" cy="155448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73868" y="3685032"/>
            <a:ext cx="0" cy="155448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48640" y="3840480"/>
            <a:ext cx="2532888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inmediato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avisa y deja el chat; toma el asesor asignado, con un resumen del lead.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401568" y="3840480"/>
            <a:ext cx="2532888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antecedentes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Profesión, dirección y foto de la cédula: se guardan en el negocio de Bitrix24.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3840480"/>
            <a:ext cx="2532888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de Sofía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al cliente y deja el resultado y una tarea para el asesor en Bitrix24.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07424" y="3840480"/>
            <a:ext cx="2532888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458C7"/>
            </a:solidFill>
            <a:prstDash val="solid"/>
          </a:ln>
        </p:spPr>
        <p:txBody>
          <a:bodyPr wrap="square" lIns="101600" tIns="127000" rIns="1270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245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 en 3 tiempos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h: recordatorio por IA.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h: aviso al asesor.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h: último recordatorio.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vuelve a escribir, Sofía sigue.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15084" y="5266944"/>
            <a:ext cx="0" cy="356616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668012" y="5266944"/>
            <a:ext cx="0" cy="356616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20940" y="5266944"/>
            <a:ext cx="0" cy="356616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373868" y="5266944"/>
            <a:ext cx="0" cy="356616"/>
          </a:xfrm>
          <a:prstGeom prst="line">
            <a:avLst/>
          </a:prstGeom>
          <a:noFill/>
          <a:ln w="19050">
            <a:solidFill>
              <a:srgbClr val="5B6879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1906524" y="5394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chat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759452" y="5394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escala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612380" y="5394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tarea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465308" y="5394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asesor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A84A0A"/>
          </a:solidFill>
          <a:ln w="12700">
            <a:solidFill>
              <a:srgbClr val="A84A0A"/>
            </a:solidFill>
          </a:ln>
        </p:spPr>
        <p:txBody>
          <a:bodyPr wrap="square" lIns="50800" tIns="228600" rIns="228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spc="150" kern="0" dirty="0">
                <a:solidFill>
                  <a:srgbClr val="FB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HUMANO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la negociación en Bitrix24 hasta la matrícula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B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negocio queda con su etapa, su asesor y su resumen a la vista en el panel de Bitrix24.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reglas que conviene tener presentes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3F6FB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2458C7"/>
          </a:solidFill>
          <a:ln w="12700">
            <a:solidFill>
              <a:srgbClr val="2458C7"/>
            </a:solidFill>
            <a:prstDash val="solid"/>
          </a:ln>
        </p:spPr>
      </p:sp>
      <p:pic>
        <p:nvPicPr>
          <p:cNvPr id="5" name="Image 0" descr="Hora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Horario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a un mensaje del cliente son inmediatas, a cualquier hora. Los dos recordatorios que Sofía envía por su cuenta solo salen entre las 9 y las 21 h de Chile.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61688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3F6FB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81728" y="1965960"/>
            <a:ext cx="777240" cy="777240"/>
          </a:xfrm>
          <a:prstGeom prst="ellipse">
            <a:avLst/>
          </a:prstGeom>
          <a:solidFill>
            <a:srgbClr val="2458C7"/>
          </a:solidFill>
          <a:ln w="12700">
            <a:solidFill>
              <a:srgbClr val="2458C7"/>
            </a:solidFill>
            <a:prstDash val="solid"/>
          </a:ln>
        </p:spPr>
      </p:sp>
      <p:pic>
        <p:nvPicPr>
          <p:cNvPr id="10" name="Image 1" descr="Ases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148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81728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Asesores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81728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asignan alternando Norte y Sur. Cada derivación deja una tarea en Bitrix24, para medir cuántas terminan en matrícula.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74736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3F6FB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94776" y="1965960"/>
            <a:ext cx="777240" cy="777240"/>
          </a:xfrm>
          <a:prstGeom prst="ellipse">
            <a:avLst/>
          </a:prstGeom>
          <a:solidFill>
            <a:srgbClr val="2458C7"/>
          </a:solidFill>
          <a:ln w="12700">
            <a:solidFill>
              <a:srgbClr val="2458C7"/>
            </a:solidFill>
            <a:prstDash val="solid"/>
          </a:ln>
        </p:spPr>
      </p:sp>
      <p:pic>
        <p:nvPicPr>
          <p:cNvPr id="15" name="Image 2" descr="Medi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1488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94776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94776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dentro de Bitrix24 compara la proyección del piloto con lo real: conversaciones, escalamientos, negociaciones trabajadas y matrículas.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23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«Datos completos» significa nombre, correo y teléfono ya guardados en Bitrix24.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atiende Sofía a un interesado</dc:title>
  <dc:subject>PptxGenJS Presentation</dc:subject>
  <dc:creator>PptxGenJS</dc:creator>
  <cp:lastModifiedBy>PptxGenJS</cp:lastModifiedBy>
  <cp:revision>1</cp:revision>
  <dcterms:created xsi:type="dcterms:W3CDTF">2026-09-21T19:42:59Z</dcterms:created>
  <dcterms:modified xsi:type="dcterms:W3CDTF">2026-09-21T19:42:59Z</dcterms:modified>
</cp:coreProperties>
</file>